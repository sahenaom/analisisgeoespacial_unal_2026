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B63C7-2AC0-158D-82E5-62D36A5F5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E43091-8637-9498-C6AE-C4A1B6638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04708C-E989-3C9E-BDE2-A2EDD764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89150-BAF2-EF6D-3404-A56A7B20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03980-8FD8-F270-10B2-94127295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331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EBC66-13FF-81F0-E791-B314FDF3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BB26EC-C8D2-4D94-0CA1-307EB8319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3DC62A-C19A-6028-B0A5-9E110490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33731D-01A6-C655-178A-5EE3D9DD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DA50AE-D297-C0AF-D041-A8F5829A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587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E46FA-EAF0-74BC-CD2E-D07804D6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F64105-8AD7-A628-37EE-F96F89F55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64364D-72A9-389B-24BD-468E1727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C7AF70-E99D-E23F-C1D4-E4F95BB3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9CC413-AF61-EB7A-EAB3-B65D2717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440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4CC92-90CA-A715-65C3-B942CD94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F98E90-BCF3-CFEB-85B4-A91259CBC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82997D-80A8-82E2-A9F7-DD6CF9157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69C78C-9516-5B44-4CAF-8DE36E38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5009C5-9D8E-7148-120B-21AD2E28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A3FB0C-DC0A-C073-939D-108FF717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748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C5AFF-2ED4-C256-CC1D-0ECC13CB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5302EC-8595-6AA1-A629-F068F80B1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AD4AB7-A152-7676-A8C1-FF4EA12B8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F54EBF-D40E-0C05-CE3F-C02488EB4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6D1A34-B0E7-9469-6429-E997F6565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F684DC-8240-A1CB-BA75-6DE6F673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C399C4-3E4E-86BF-4F53-65CBF58E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5A048B-1C62-6CEC-0F4F-A2C09005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308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01555-E50A-31FC-E353-7CFA7A33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592BAA-3AC4-9739-AFF9-22141CF6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8FDDE7-8DB3-3B3B-5D96-1CBD80E2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D81839-276C-EC0F-C641-365424CB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50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609477-F428-49D4-A669-26C71494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43BE70-EFB4-5925-D96E-78F8A2E0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31F184-BB02-E886-8279-AB56004B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762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8A141-AF50-6416-55CA-16260D17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EA94C-86E6-31D2-2364-131298BA2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4A1D3D-90FB-A777-D063-F7F2C68A3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3F0996-C95F-BD65-7DBD-D2F65390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874C76-C0D7-401F-1D94-18410FC0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46185-59A4-0A9E-B629-7C782A98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09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7125C-59F6-09DA-635B-607BEDC5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99E2BA-687F-CC0D-AB61-11654135A4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9F53E8-EE0A-0A7A-F7C4-45F195EB7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7A8EBA-F12C-B842-97F2-CB994A54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3B85DB-E174-1F34-B18D-29CD7901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10F9E6-DD20-29A4-CDFD-EAD853BA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33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B475D-4263-18A8-0484-BFE981B3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9BF0D1-31A4-2D1D-70FA-DEA606D44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804EC4-1F8D-B60D-7590-C4D0467A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89DB2E-0751-6E11-D395-59BB5ECD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BD8692-AF5C-D3D4-86D8-D050DC3A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704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CEA299-B59F-9A14-5C74-A76EE3F02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2CD162-BF6E-1E28-41FB-FB890EDE6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A9F723-F6B7-87CB-D73A-2445A6D3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527B1-8B6F-7D31-2184-ECC28255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80333-68B4-5849-BC8B-54BC71D5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212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C1420B-5E77-5B7E-24AC-DB3FA647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B8E69C-B838-02B3-DA22-6D920D981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0663A-84C9-8D97-135B-652FC3E29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184B4-93AD-4AED-83C0-8754A1480B57}" type="datetimeFigureOut">
              <a:rPr lang="es-CO" smtClean="0"/>
              <a:t>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F82896-DB96-A977-B0CD-8B84A52E1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0D904-998A-8568-8CD1-1FFBAD103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FC795-4AAB-452E-A5D9-1B5AA9CB26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333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91DF2E-D556-8375-D571-D3BDD0DA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9" r="13270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DB75CF-755C-C4BC-A98D-7C90B4B62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683" y="1145431"/>
            <a:ext cx="6521831" cy="4567137"/>
          </a:xfrm>
        </p:spPr>
        <p:txBody>
          <a:bodyPr>
            <a:normAutofit/>
          </a:bodyPr>
          <a:lstStyle/>
          <a:p>
            <a:pPr algn="l"/>
            <a:r>
              <a:rPr lang="es-ES" sz="2400" dirty="0"/>
              <a:t>Santiago Henao Mejía</a:t>
            </a:r>
            <a:br>
              <a:rPr lang="es-ES" sz="2400" dirty="0"/>
            </a:br>
            <a:r>
              <a:rPr lang="es-ES" sz="2400" dirty="0"/>
              <a:t>Análisis Geoespacial</a:t>
            </a:r>
            <a:br>
              <a:rPr lang="es-ES" sz="2400" dirty="0"/>
            </a:br>
            <a:r>
              <a:rPr lang="es-ES" sz="2400" dirty="0"/>
              <a:t>2026-II</a:t>
            </a:r>
            <a:br>
              <a:rPr lang="es-ES" sz="2400" dirty="0"/>
            </a:br>
            <a:r>
              <a:rPr lang="es-ES" sz="2400" dirty="0"/>
              <a:t>Universidad Nacional de Colombia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3200" b="1" dirty="0"/>
              <a:t>Presentación</a:t>
            </a:r>
            <a:r>
              <a:rPr lang="es-ES" sz="2400" b="1" dirty="0"/>
              <a:t> </a:t>
            </a:r>
            <a:r>
              <a:rPr lang="es-ES" sz="3200" b="1" dirty="0"/>
              <a:t>del Proyecto del Curso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330393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Esta es la Avenida San Juan, una gran avenida que atraviesa el centro de  Medellín. El centro de Medellín es uno de los sectores más transitados y  urbanizados de la ciudad, sin">
            <a:extLst>
              <a:ext uri="{FF2B5EF4-FFF2-40B4-BE49-F238E27FC236}">
                <a16:creationId xmlns:a16="http://schemas.microsoft.com/office/drawing/2014/main" id="{AC8637BE-8B30-8587-CDB9-F97C7A7A8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301" b="18977"/>
          <a:stretch>
            <a:fillRect/>
          </a:stretch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7E4AF2A-31A0-D6D9-1541-C7E23B56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502638" cy="1627636"/>
          </a:xfrm>
        </p:spPr>
        <p:txBody>
          <a:bodyPr>
            <a:noAutofit/>
          </a:bodyPr>
          <a:lstStyle/>
          <a:p>
            <a:pPr lvl="0"/>
            <a:r>
              <a:rPr lang="es-CO" sz="3200" dirty="0">
                <a:solidFill>
                  <a:srgbClr val="FFFFFF"/>
                </a:solidFill>
              </a:rPr>
              <a:t>¿Cómo se relacionan espacialmente las condiciones territoriales con la accesibilidad y la movilidad en Medellín?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92A10-F71E-EB6B-ED83-EDCA2FA11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785"/>
            <a:ext cx="4619621" cy="3957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>
                <a:solidFill>
                  <a:srgbClr val="FFFFFF"/>
                </a:solidFill>
              </a:rPr>
              <a:t>Medellín presenta sectores donde las condiciones físicas y urbanas (pendiente, configuración vial, consolidación urbana, condiciones socioeconómicas y oferta de transporte) pueden condicionar fuertemente la accesibilidad</a:t>
            </a:r>
          </a:p>
        </p:txBody>
      </p:sp>
      <p:pic>
        <p:nvPicPr>
          <p:cNvPr id="5" name="Imagen 4" descr="Denuncian mal estado de vías en Santo Domingo">
            <a:extLst>
              <a:ext uri="{FF2B5EF4-FFF2-40B4-BE49-F238E27FC236}">
                <a16:creationId xmlns:a16="http://schemas.microsoft.com/office/drawing/2014/main" id="{613859A3-AD2C-18D4-020B-5836E0D9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40"/>
          <a:stretch>
            <a:fillRect/>
          </a:stretch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7602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2ECBCAC2-F44A-DD93-2393-B8FB85330C9D}"/>
              </a:ext>
            </a:extLst>
          </p:cNvPr>
          <p:cNvSpPr/>
          <p:nvPr/>
        </p:nvSpPr>
        <p:spPr>
          <a:xfrm>
            <a:off x="4684081" y="3813226"/>
            <a:ext cx="2700000" cy="270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</a:rPr>
              <a:t>zonas con restricciones de accesibilidad</a:t>
            </a:r>
            <a:r>
              <a:rPr lang="es-CO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16C4684-ED63-BEA3-8CE5-1EAEDBDAFE89}"/>
              </a:ext>
            </a:extLst>
          </p:cNvPr>
          <p:cNvSpPr/>
          <p:nvPr/>
        </p:nvSpPr>
        <p:spPr>
          <a:xfrm>
            <a:off x="3388675" y="2946060"/>
            <a:ext cx="180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Territorio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08EFA1B-0DF5-D453-70DA-530E7DC9BBF9}"/>
              </a:ext>
            </a:extLst>
          </p:cNvPr>
          <p:cNvSpPr/>
          <p:nvPr/>
        </p:nvSpPr>
        <p:spPr>
          <a:xfrm>
            <a:off x="423093" y="2946060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Población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1F42E3E-2FCE-6E5E-4CC2-46C0C13DC4E2}"/>
              </a:ext>
            </a:extLst>
          </p:cNvPr>
          <p:cNvSpPr/>
          <p:nvPr/>
        </p:nvSpPr>
        <p:spPr>
          <a:xfrm>
            <a:off x="423093" y="2438893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Pendiente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A6D213D-C88B-7DF0-5B4B-2E257063AE1F}"/>
              </a:ext>
            </a:extLst>
          </p:cNvPr>
          <p:cNvSpPr/>
          <p:nvPr/>
        </p:nvSpPr>
        <p:spPr>
          <a:xfrm>
            <a:off x="423093" y="3453227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Socioeconomía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DDDBCC8-A3F4-DD4F-3513-4555D5E9CC02}"/>
              </a:ext>
            </a:extLst>
          </p:cNvPr>
          <p:cNvSpPr/>
          <p:nvPr/>
        </p:nvSpPr>
        <p:spPr>
          <a:xfrm>
            <a:off x="7341068" y="2946060"/>
            <a:ext cx="180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Movilidad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C90E395-6C2F-E458-C11F-F38C2C3A0975}"/>
              </a:ext>
            </a:extLst>
          </p:cNvPr>
          <p:cNvSpPr/>
          <p:nvPr/>
        </p:nvSpPr>
        <p:spPr>
          <a:xfrm>
            <a:off x="9587094" y="2946060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Transporte público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8BC23A0E-619F-7EFA-2802-64D9B8A2B06B}"/>
              </a:ext>
            </a:extLst>
          </p:cNvPr>
          <p:cNvSpPr/>
          <p:nvPr/>
        </p:nvSpPr>
        <p:spPr>
          <a:xfrm>
            <a:off x="9587094" y="2438893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Red vial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816EEFE-0C86-7D9E-C0D2-711634FB190A}"/>
              </a:ext>
            </a:extLst>
          </p:cNvPr>
          <p:cNvSpPr/>
          <p:nvPr/>
        </p:nvSpPr>
        <p:spPr>
          <a:xfrm>
            <a:off x="9587094" y="3453226"/>
            <a:ext cx="2340000" cy="64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Generación y atracción de viajes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2124D59-D898-1AC3-8976-684F98B5B000}"/>
              </a:ext>
            </a:extLst>
          </p:cNvPr>
          <p:cNvSpPr txBox="1"/>
          <p:nvPr/>
        </p:nvSpPr>
        <p:spPr>
          <a:xfrm>
            <a:off x="528611" y="344774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/>
              <a:t>ANALISIS</a:t>
            </a:r>
            <a:endParaRPr lang="es-CO" b="1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3A8704D-9A3F-A3B9-9384-41BD48CF6333}"/>
              </a:ext>
            </a:extLst>
          </p:cNvPr>
          <p:cNvSpPr/>
          <p:nvPr/>
        </p:nvSpPr>
        <p:spPr>
          <a:xfrm>
            <a:off x="5134081" y="2258893"/>
            <a:ext cx="180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Accesibilidad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923ED8C-A9EF-3EDF-64A6-52E2D6B85EC1}"/>
              </a:ext>
            </a:extLst>
          </p:cNvPr>
          <p:cNvSpPr/>
          <p:nvPr/>
        </p:nvSpPr>
        <p:spPr>
          <a:xfrm>
            <a:off x="6156078" y="1650888"/>
            <a:ext cx="23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Tiempos de acceso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DA71ECF3-687D-C599-6C97-55210C005F76}"/>
              </a:ext>
            </a:extLst>
          </p:cNvPr>
          <p:cNvSpPr/>
          <p:nvPr/>
        </p:nvSpPr>
        <p:spPr>
          <a:xfrm>
            <a:off x="3636078" y="1356321"/>
            <a:ext cx="2340000" cy="648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Acceso a </a:t>
            </a:r>
            <a:br>
              <a:rPr lang="es-CO" sz="1600" dirty="0">
                <a:solidFill>
                  <a:schemeClr val="tx1"/>
                </a:solidFill>
              </a:rPr>
            </a:br>
            <a:r>
              <a:rPr lang="es-CO" sz="1600" dirty="0">
                <a:solidFill>
                  <a:schemeClr val="tx1"/>
                </a:solidFill>
              </a:rPr>
              <a:t>oportunidades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929181E7-E94D-C252-CEC7-3E33106C0DF3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4753288" y="2058099"/>
            <a:ext cx="433583" cy="32800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8DB08E12-90B9-5649-6528-A772576D29C7}"/>
              </a:ext>
            </a:extLst>
          </p:cNvPr>
          <p:cNvCxnSpPr>
            <a:cxnSpLocks/>
            <a:stCxn id="28" idx="2"/>
            <a:endCxn id="26" idx="3"/>
          </p:cNvCxnSpPr>
          <p:nvPr/>
        </p:nvCxnSpPr>
        <p:spPr>
          <a:xfrm rot="5400000">
            <a:off x="6916078" y="2028892"/>
            <a:ext cx="428005" cy="39199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curvado 35">
            <a:extLst>
              <a:ext uri="{FF2B5EF4-FFF2-40B4-BE49-F238E27FC236}">
                <a16:creationId xmlns:a16="http://schemas.microsoft.com/office/drawing/2014/main" id="{B93D8C9C-97ED-1720-67F3-FB4426EFB025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2763093" y="2618893"/>
            <a:ext cx="625582" cy="50716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2891CC7B-3FD2-D70E-83AF-0661FDDB861A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2763093" y="3126060"/>
            <a:ext cx="625582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762E705D-6EE0-F426-87B4-B6F8EFA62FD7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 flipV="1">
            <a:off x="2763093" y="3126060"/>
            <a:ext cx="625582" cy="50716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2AD7D8F1-C9AE-FC3E-ACFE-CC0319DEFA9F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rot="10800000" flipV="1">
            <a:off x="9141068" y="2618892"/>
            <a:ext cx="446026" cy="50716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DFB444B1-AEA6-6253-4894-50675D0D3B23}"/>
              </a:ext>
            </a:extLst>
          </p:cNvPr>
          <p:cNvCxnSpPr>
            <a:cxnSpLocks/>
            <a:stCxn id="19" idx="1"/>
            <a:endCxn id="17" idx="3"/>
          </p:cNvCxnSpPr>
          <p:nvPr/>
        </p:nvCxnSpPr>
        <p:spPr>
          <a:xfrm rot="10800000">
            <a:off x="9141068" y="3126060"/>
            <a:ext cx="446026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AECF3248-4516-8B7C-4438-BE80A2BDF5AF}"/>
              </a:ext>
            </a:extLst>
          </p:cNvPr>
          <p:cNvCxnSpPr>
            <a:cxnSpLocks/>
            <a:stCxn id="23" idx="1"/>
            <a:endCxn id="17" idx="3"/>
          </p:cNvCxnSpPr>
          <p:nvPr/>
        </p:nvCxnSpPr>
        <p:spPr>
          <a:xfrm rot="10800000">
            <a:off x="9141068" y="3126060"/>
            <a:ext cx="446026" cy="65116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71A2899C-A24A-9CF1-12CB-1066959D136A}"/>
              </a:ext>
            </a:extLst>
          </p:cNvPr>
          <p:cNvCxnSpPr>
            <a:cxnSpLocks/>
            <a:stCxn id="21" idx="0"/>
            <a:endCxn id="28" idx="3"/>
          </p:cNvCxnSpPr>
          <p:nvPr/>
        </p:nvCxnSpPr>
        <p:spPr>
          <a:xfrm rot="16200000" flipV="1">
            <a:off x="9322584" y="1004383"/>
            <a:ext cx="608005" cy="226101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curvado 58">
            <a:extLst>
              <a:ext uri="{FF2B5EF4-FFF2-40B4-BE49-F238E27FC236}">
                <a16:creationId xmlns:a16="http://schemas.microsoft.com/office/drawing/2014/main" id="{D43E6C8D-1771-B582-1F8E-6D9DB96E40F6}"/>
              </a:ext>
            </a:extLst>
          </p:cNvPr>
          <p:cNvCxnSpPr>
            <a:cxnSpLocks/>
            <a:stCxn id="19" idx="1"/>
            <a:endCxn id="28" idx="3"/>
          </p:cNvCxnSpPr>
          <p:nvPr/>
        </p:nvCxnSpPr>
        <p:spPr>
          <a:xfrm rot="10800000">
            <a:off x="8496078" y="1830888"/>
            <a:ext cx="1091016" cy="129517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curvado 62">
            <a:extLst>
              <a:ext uri="{FF2B5EF4-FFF2-40B4-BE49-F238E27FC236}">
                <a16:creationId xmlns:a16="http://schemas.microsoft.com/office/drawing/2014/main" id="{198D3F84-0B17-9C84-1B4C-4518C68E64B6}"/>
              </a:ext>
            </a:extLst>
          </p:cNvPr>
          <p:cNvCxnSpPr>
            <a:cxnSpLocks/>
            <a:stCxn id="26" idx="2"/>
            <a:endCxn id="4" idx="0"/>
          </p:cNvCxnSpPr>
          <p:nvPr/>
        </p:nvCxnSpPr>
        <p:spPr>
          <a:xfrm rot="5400000">
            <a:off x="5436915" y="3216059"/>
            <a:ext cx="1194333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56D43D51-80FF-D573-6C51-5A22A6E055A5}"/>
              </a:ext>
            </a:extLst>
          </p:cNvPr>
          <p:cNvCxnSpPr>
            <a:cxnSpLocks/>
            <a:stCxn id="17" idx="2"/>
            <a:endCxn id="4" idx="7"/>
          </p:cNvCxnSpPr>
          <p:nvPr/>
        </p:nvCxnSpPr>
        <p:spPr>
          <a:xfrm rot="5400000">
            <a:off x="7163586" y="3131150"/>
            <a:ext cx="902572" cy="12523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curvado 71">
            <a:extLst>
              <a:ext uri="{FF2B5EF4-FFF2-40B4-BE49-F238E27FC236}">
                <a16:creationId xmlns:a16="http://schemas.microsoft.com/office/drawing/2014/main" id="{F22B8F3F-F347-B35F-318D-28CE32BC3962}"/>
              </a:ext>
            </a:extLst>
          </p:cNvPr>
          <p:cNvCxnSpPr>
            <a:cxnSpLocks/>
            <a:stCxn id="5" idx="2"/>
            <a:endCxn id="4" idx="1"/>
          </p:cNvCxnSpPr>
          <p:nvPr/>
        </p:nvCxnSpPr>
        <p:spPr>
          <a:xfrm rot="16200000" flipH="1">
            <a:off x="4232795" y="3361940"/>
            <a:ext cx="902572" cy="79081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curvado 83">
            <a:extLst>
              <a:ext uri="{FF2B5EF4-FFF2-40B4-BE49-F238E27FC236}">
                <a16:creationId xmlns:a16="http://schemas.microsoft.com/office/drawing/2014/main" id="{4AF63CE6-1500-7DB6-EA38-1D4F97DE9FF3}"/>
              </a:ext>
            </a:extLst>
          </p:cNvPr>
          <p:cNvCxnSpPr>
            <a:cxnSpLocks/>
            <a:stCxn id="87" idx="1"/>
            <a:endCxn id="13" idx="1"/>
          </p:cNvCxnSpPr>
          <p:nvPr/>
        </p:nvCxnSpPr>
        <p:spPr>
          <a:xfrm rot="10800000" flipV="1">
            <a:off x="423093" y="1954891"/>
            <a:ext cx="29284" cy="664002"/>
          </a:xfrm>
          <a:prstGeom prst="curvedConnector3">
            <a:avLst>
              <a:gd name="adj1" fmla="val 8806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F9531DFD-530D-5644-C647-0B05C9B53E62}"/>
              </a:ext>
            </a:extLst>
          </p:cNvPr>
          <p:cNvSpPr/>
          <p:nvPr/>
        </p:nvSpPr>
        <p:spPr>
          <a:xfrm>
            <a:off x="452377" y="1774891"/>
            <a:ext cx="12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Elevación</a:t>
            </a:r>
            <a:r>
              <a:rPr lang="es-CO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5814015E-C1E4-8B9A-8DCC-E8DC947D2E1D}"/>
              </a:ext>
            </a:extLst>
          </p:cNvPr>
          <p:cNvSpPr/>
          <p:nvPr/>
        </p:nvSpPr>
        <p:spPr>
          <a:xfrm>
            <a:off x="2733531" y="729315"/>
            <a:ext cx="12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Empleo 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EC62654C-2130-7F40-4207-7C8E66FAC997}"/>
              </a:ext>
            </a:extLst>
          </p:cNvPr>
          <p:cNvSpPr/>
          <p:nvPr/>
        </p:nvSpPr>
        <p:spPr>
          <a:xfrm>
            <a:off x="4176078" y="729315"/>
            <a:ext cx="12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Educación  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C7429469-B95F-B84E-03CB-8B05A998FEBC}"/>
              </a:ext>
            </a:extLst>
          </p:cNvPr>
          <p:cNvSpPr/>
          <p:nvPr/>
        </p:nvSpPr>
        <p:spPr>
          <a:xfrm>
            <a:off x="5683007" y="735665"/>
            <a:ext cx="126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</a:rPr>
              <a:t>Salud  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100" name="Conector: curvado 99">
            <a:extLst>
              <a:ext uri="{FF2B5EF4-FFF2-40B4-BE49-F238E27FC236}">
                <a16:creationId xmlns:a16="http://schemas.microsoft.com/office/drawing/2014/main" id="{E4E97CF6-FB9F-9999-01D7-108496DD964A}"/>
              </a:ext>
            </a:extLst>
          </p:cNvPr>
          <p:cNvCxnSpPr>
            <a:cxnSpLocks/>
            <a:stCxn id="91" idx="2"/>
            <a:endCxn id="30" idx="1"/>
          </p:cNvCxnSpPr>
          <p:nvPr/>
        </p:nvCxnSpPr>
        <p:spPr>
          <a:xfrm rot="16200000" flipH="1">
            <a:off x="3204054" y="1248791"/>
            <a:ext cx="591501" cy="2725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: curvado 102">
            <a:extLst>
              <a:ext uri="{FF2B5EF4-FFF2-40B4-BE49-F238E27FC236}">
                <a16:creationId xmlns:a16="http://schemas.microsoft.com/office/drawing/2014/main" id="{201056A7-57BB-87D3-76B5-72292504B225}"/>
              </a:ext>
            </a:extLst>
          </p:cNvPr>
          <p:cNvCxnSpPr>
            <a:cxnSpLocks/>
            <a:stCxn id="93" idx="2"/>
            <a:endCxn id="30" idx="0"/>
          </p:cNvCxnSpPr>
          <p:nvPr/>
        </p:nvCxnSpPr>
        <p:spPr>
          <a:xfrm rot="5400000">
            <a:off x="4672575" y="1222818"/>
            <a:ext cx="267006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curvado 105">
            <a:extLst>
              <a:ext uri="{FF2B5EF4-FFF2-40B4-BE49-F238E27FC236}">
                <a16:creationId xmlns:a16="http://schemas.microsoft.com/office/drawing/2014/main" id="{5727D545-78A6-DFF9-6808-D0B45C6C6225}"/>
              </a:ext>
            </a:extLst>
          </p:cNvPr>
          <p:cNvCxnSpPr>
            <a:cxnSpLocks/>
            <a:stCxn id="95" idx="2"/>
            <a:endCxn id="30" idx="3"/>
          </p:cNvCxnSpPr>
          <p:nvPr/>
        </p:nvCxnSpPr>
        <p:spPr>
          <a:xfrm rot="5400000">
            <a:off x="5851968" y="1219776"/>
            <a:ext cx="585151" cy="3369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93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0A398-EF6A-1EF8-6423-210EF277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Datos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AF0759-37C0-562F-A14A-9B648526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69" y="1472939"/>
            <a:ext cx="11925862" cy="477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0A0A-B0C7-230C-2912-9F1D17EB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Alcance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54CCC9-4D2A-4F9D-B68F-21E7A9AE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Realizar un mapa con unidades territoriales de zonificación:</a:t>
            </a:r>
            <a:br>
              <a:rPr lang="es-CO" dirty="0"/>
            </a:br>
            <a:r>
              <a:rPr lang="es-CO" dirty="0"/>
              <a:t>	</a:t>
            </a:r>
            <a:r>
              <a:rPr lang="es-CO" b="1" dirty="0"/>
              <a:t>pendiente + condición socioeconómica + distancia/acceso al 	transporte + conectividad vial + accesibilidad a oportunidades 	+ análisis de movilidad.</a:t>
            </a:r>
            <a:endParaRPr lang="es-CO" dirty="0"/>
          </a:p>
          <a:p>
            <a:pPr marL="0" indent="0">
              <a:buNone/>
            </a:pPr>
            <a:br>
              <a:rPr lang="es-CO" dirty="0"/>
            </a:br>
            <a:r>
              <a:rPr lang="es-CO" dirty="0"/>
              <a:t>¿Las zonas con baja accesibilidad están espacialmente agrupadas?</a:t>
            </a:r>
            <a:br>
              <a:rPr lang="es-CO" dirty="0"/>
            </a:br>
            <a:endParaRPr lang="es-CO" dirty="0"/>
          </a:p>
          <a:p>
            <a:pPr marL="0" indent="0">
              <a:buNone/>
            </a:pPr>
            <a:r>
              <a:rPr lang="es-CO" dirty="0"/>
              <a:t>Identificar zonas críticas de accesibilidad</a:t>
            </a:r>
            <a:br>
              <a:rPr lang="es-CO" dirty="0"/>
            </a:br>
            <a:br>
              <a:rPr lang="es-CO" dirty="0"/>
            </a:br>
            <a:r>
              <a:rPr lang="es-CO" dirty="0"/>
              <a:t>Identificar tipologías territoriales ¿Qué variables configura una zona critica de movilidad?</a:t>
            </a:r>
            <a:br>
              <a:rPr lang="es-CO" dirty="0"/>
            </a:br>
            <a:br>
              <a:rPr lang="es-CO" dirty="0"/>
            </a:br>
            <a:r>
              <a:rPr lang="es-CO" dirty="0"/>
              <a:t>Evaluar patrones de concentración, dependencia y heterogeneidad espacial.</a:t>
            </a:r>
          </a:p>
        </p:txBody>
      </p:sp>
    </p:spTree>
    <p:extLst>
      <p:ext uri="{BB962C8B-B14F-4D97-AF65-F5344CB8AC3E}">
        <p14:creationId xmlns:p14="http://schemas.microsoft.com/office/powerpoint/2010/main" val="59745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7E7C5-09CB-FE97-02F6-F5602B73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Primer acercamiento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5ACE05-9D75-5BDF-2411-F3C8F66FD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67" y="1452875"/>
            <a:ext cx="5667327" cy="504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51546A-090B-2B2B-36D3-6B53F377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27" y="1092875"/>
            <a:ext cx="5345317" cy="540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803B55E-F3BE-ABB2-D89E-6EE745DE6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130" y="595504"/>
            <a:ext cx="891827" cy="8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1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56ABAA4-ADEA-C4F6-F362-22EAC7EE2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24922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5AEFE8A-976F-AF37-2DB1-A2F56209C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901" y="1948721"/>
            <a:ext cx="5730566" cy="28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8745BB-492F-ED95-07B0-553A4208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12" y="61912"/>
            <a:ext cx="75723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3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2374A-2ABE-3C6D-9A00-25F215CBF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77" y="314921"/>
            <a:ext cx="9600046" cy="31140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C6A1BB-B284-0904-84D5-8B3F1584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865" y="3578340"/>
            <a:ext cx="6443929" cy="311407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5806CD-7A54-B2DD-39AD-084FFE5B0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6" y="3997665"/>
            <a:ext cx="3725351" cy="227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8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23BD2F-51AD-BEFF-739A-B51D3E32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10" y="95250"/>
            <a:ext cx="6564579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4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438AB1-6641-668A-3795-EA602B3B9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7381"/>
            <a:ext cx="12192000" cy="330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6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9C1066-E06F-38A1-1A06-CA70013ED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" y="880632"/>
            <a:ext cx="6006000" cy="504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734335E-1992-54E1-3FBF-296B2D07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865" y="880632"/>
            <a:ext cx="5924532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6CD07F-FAF4-11D2-4ACA-0C554F5F9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3" y="1711324"/>
            <a:ext cx="6040679" cy="360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4AA51D-5522-B64B-7584-9D58DED55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92" y="1711324"/>
            <a:ext cx="580408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544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187</Words>
  <Application>Microsoft Office PowerPoint</Application>
  <PresentationFormat>Panorámica</PresentationFormat>
  <Paragraphs>26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Santiago Henao Mejía Análisis Geoespacial 2026-II Universidad Nacional de Colombia      Presentación del Proyecto del Curso</vt:lpstr>
      <vt:lpstr>¿Cómo se relacionan espacialmente las condiciones territoriales con la accesibilidad y la movilidad en Medellín?</vt:lpstr>
      <vt:lpstr>Presentación de PowerPoint</vt:lpstr>
      <vt:lpstr>Datos</vt:lpstr>
      <vt:lpstr>Alcance</vt:lpstr>
      <vt:lpstr>Primer acercamiento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Henao</dc:creator>
  <cp:lastModifiedBy>Santiago Henao</cp:lastModifiedBy>
  <cp:revision>5</cp:revision>
  <dcterms:created xsi:type="dcterms:W3CDTF">2026-10-06T04:06:30Z</dcterms:created>
  <dcterms:modified xsi:type="dcterms:W3CDTF">2026-10-06T21:48:15Z</dcterms:modified>
</cp:coreProperties>
</file>